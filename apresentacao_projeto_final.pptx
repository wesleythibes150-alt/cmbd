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ptos Bold" panose="020B0604020202020204" charset="0"/>
      <p:regular r:id="rId10"/>
    </p:embeddedFont>
    <p:embeddedFont>
      <p:font typeface="Consolas" panose="020B0609020204030204" pitchFamily="49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3431" y="521618"/>
            <a:ext cx="1098137" cy="61770"/>
            <a:chOff x="0" y="0"/>
            <a:chExt cx="1464183" cy="82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183" cy="82423"/>
            </a:xfrm>
            <a:custGeom>
              <a:avLst/>
              <a:gdLst/>
              <a:ahLst/>
              <a:cxnLst/>
              <a:rect l="l" t="t" r="r" b="b"/>
              <a:pathLst>
                <a:path w="1464183" h="82423">
                  <a:moveTo>
                    <a:pt x="0" y="0"/>
                  </a:moveTo>
                  <a:lnTo>
                    <a:pt x="1464183" y="0"/>
                  </a:lnTo>
                  <a:lnTo>
                    <a:pt x="1464183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491323" y="2745343"/>
            <a:ext cx="466706" cy="466706"/>
            <a:chOff x="0" y="0"/>
            <a:chExt cx="622275" cy="6222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824862" y="1853108"/>
            <a:ext cx="343167" cy="343167"/>
            <a:chOff x="0" y="0"/>
            <a:chExt cx="457556" cy="4575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7581" cy="457581"/>
            </a:xfrm>
            <a:custGeom>
              <a:avLst/>
              <a:gdLst/>
              <a:ahLst/>
              <a:cxnLst/>
              <a:rect l="l" t="t" r="r" b="b"/>
              <a:pathLst>
                <a:path w="457581" h="457581">
                  <a:moveTo>
                    <a:pt x="0" y="228727"/>
                  </a:moveTo>
                  <a:cubicBezTo>
                    <a:pt x="0" y="102489"/>
                    <a:pt x="102489" y="0"/>
                    <a:pt x="228727" y="0"/>
                  </a:cubicBezTo>
                  <a:cubicBezTo>
                    <a:pt x="354965" y="0"/>
                    <a:pt x="457581" y="102489"/>
                    <a:pt x="457581" y="228727"/>
                  </a:cubicBezTo>
                  <a:cubicBezTo>
                    <a:pt x="457581" y="354965"/>
                    <a:pt x="355092" y="457581"/>
                    <a:pt x="228727" y="457581"/>
                  </a:cubicBezTo>
                  <a:cubicBezTo>
                    <a:pt x="102362" y="457581"/>
                    <a:pt x="0" y="355092"/>
                    <a:pt x="0" y="228727"/>
                  </a:cubicBez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511196" y="4255284"/>
            <a:ext cx="466706" cy="466706"/>
            <a:chOff x="0" y="0"/>
            <a:chExt cx="622275" cy="6222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2981"/>
                    <a:pt x="0" y="311150"/>
                  </a:cubicBez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314921" y="5490686"/>
            <a:ext cx="356892" cy="356892"/>
            <a:chOff x="0" y="0"/>
            <a:chExt cx="475856" cy="4758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5869" cy="475869"/>
            </a:xfrm>
            <a:custGeom>
              <a:avLst/>
              <a:gdLst/>
              <a:ahLst/>
              <a:cxnLst/>
              <a:rect l="l" t="t" r="r" b="b"/>
              <a:pathLst>
                <a:path w="475869" h="475869">
                  <a:moveTo>
                    <a:pt x="0" y="237871"/>
                  </a:moveTo>
                  <a:cubicBezTo>
                    <a:pt x="0" y="106553"/>
                    <a:pt x="106553" y="0"/>
                    <a:pt x="237871" y="0"/>
                  </a:cubicBezTo>
                  <a:cubicBezTo>
                    <a:pt x="369189" y="0"/>
                    <a:pt x="475869" y="106553"/>
                    <a:pt x="475869" y="237871"/>
                  </a:cubicBezTo>
                  <a:cubicBezTo>
                    <a:pt x="475869" y="369189"/>
                    <a:pt x="369316" y="475869"/>
                    <a:pt x="237871" y="475869"/>
                  </a:cubicBezTo>
                  <a:cubicBezTo>
                    <a:pt x="106426" y="475869"/>
                    <a:pt x="0" y="369316"/>
                    <a:pt x="0" y="237871"/>
                  </a:cubicBez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5923000" y="6863363"/>
            <a:ext cx="301990" cy="301990"/>
            <a:chOff x="0" y="0"/>
            <a:chExt cx="402654" cy="4026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cubicBezTo>
                    <a:pt x="312420" y="0"/>
                    <a:pt x="402590" y="90170"/>
                    <a:pt x="402590" y="201295"/>
                  </a:cubicBezTo>
                  <a:cubicBezTo>
                    <a:pt x="402590" y="312420"/>
                    <a:pt x="312547" y="402590"/>
                    <a:pt x="201295" y="402590"/>
                  </a:cubicBezTo>
                  <a:cubicBezTo>
                    <a:pt x="90043" y="402590"/>
                    <a:pt x="0" y="312547"/>
                    <a:pt x="0" y="201295"/>
                  </a:cubicBez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079519" y="7412431"/>
            <a:ext cx="329441" cy="329441"/>
            <a:chOff x="0" y="0"/>
            <a:chExt cx="439255" cy="43925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9293" cy="439293"/>
            </a:xfrm>
            <a:custGeom>
              <a:avLst/>
              <a:gdLst/>
              <a:ahLst/>
              <a:cxnLst/>
              <a:rect l="l" t="t" r="r" b="b"/>
              <a:pathLst>
                <a:path w="439293" h="439293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cubicBezTo>
                    <a:pt x="340868" y="0"/>
                    <a:pt x="439293" y="98298"/>
                    <a:pt x="439293" y="219583"/>
                  </a:cubicBezTo>
                  <a:cubicBezTo>
                    <a:pt x="439293" y="340868"/>
                    <a:pt x="340868" y="439293"/>
                    <a:pt x="219583" y="439293"/>
                  </a:cubicBezTo>
                  <a:cubicBezTo>
                    <a:pt x="98298" y="439293"/>
                    <a:pt x="0" y="340868"/>
                    <a:pt x="0" y="219583"/>
                  </a:cubicBez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18" name="AutoShape 18"/>
          <p:cNvSpPr/>
          <p:nvPr/>
        </p:nvSpPr>
        <p:spPr>
          <a:xfrm rot="-1354920">
            <a:off x="12582535" y="2481872"/>
            <a:ext cx="2494274" cy="0"/>
          </a:xfrm>
          <a:prstGeom prst="line">
            <a:avLst/>
          </a:prstGeom>
          <a:ln w="19050" cap="rnd">
            <a:solidFill>
              <a:srgbClr val="265A8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rot="1611000">
            <a:off x="12493400" y="3696691"/>
            <a:ext cx="3427524" cy="0"/>
          </a:xfrm>
          <a:prstGeom prst="line">
            <a:avLst/>
          </a:prstGeom>
          <a:ln w="19050" cap="rnd">
            <a:solidFill>
              <a:srgbClr val="265A8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rot="9093720">
            <a:off x="13304444" y="5048774"/>
            <a:ext cx="2587857" cy="0"/>
          </a:xfrm>
          <a:prstGeom prst="line">
            <a:avLst/>
          </a:prstGeom>
          <a:ln w="19050" cap="rnd">
            <a:solidFill>
              <a:srgbClr val="265A8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rot="7380960">
            <a:off x="11693290" y="6606759"/>
            <a:ext cx="2337302" cy="0"/>
          </a:xfrm>
          <a:prstGeom prst="line">
            <a:avLst/>
          </a:prstGeom>
          <a:ln w="19050" cap="rnd">
            <a:solidFill>
              <a:srgbClr val="265A8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rot="1670700">
            <a:off x="13289118" y="6318494"/>
            <a:ext cx="2961675" cy="0"/>
          </a:xfrm>
          <a:prstGeom prst="line">
            <a:avLst/>
          </a:prstGeom>
          <a:ln w="19050" cap="rnd">
            <a:solidFill>
              <a:srgbClr val="265A8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194206" y="1743275"/>
            <a:ext cx="9142038" cy="35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PROJETO DE BANCO DE DADOS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67933" y="3242520"/>
            <a:ext cx="7763913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GERENCIAMENTO</a:t>
            </a:r>
          </a:p>
          <a:p>
            <a:pPr algn="l">
              <a:lnSpc>
                <a:spcPts val="7565"/>
              </a:lnSpc>
            </a:pPr>
            <a:r>
              <a:rPr lang="en-US" sz="6304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DE VENDAS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967933" y="5256567"/>
            <a:ext cx="5643210" cy="1182024"/>
            <a:chOff x="0" y="0"/>
            <a:chExt cx="7524280" cy="15760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524242" cy="1575943"/>
            </a:xfrm>
            <a:custGeom>
              <a:avLst/>
              <a:gdLst/>
              <a:ahLst/>
              <a:cxnLst/>
              <a:rect l="l" t="t" r="r" b="b"/>
              <a:pathLst>
                <a:path w="7524242" h="1575943">
                  <a:moveTo>
                    <a:pt x="0" y="262636"/>
                  </a:moveTo>
                  <a:cubicBezTo>
                    <a:pt x="0" y="117602"/>
                    <a:pt x="117602" y="0"/>
                    <a:pt x="262636" y="0"/>
                  </a:cubicBezTo>
                  <a:lnTo>
                    <a:pt x="7261606" y="0"/>
                  </a:lnTo>
                  <a:cubicBezTo>
                    <a:pt x="7406639" y="0"/>
                    <a:pt x="7524242" y="117602"/>
                    <a:pt x="7524242" y="262636"/>
                  </a:cubicBezTo>
                  <a:lnTo>
                    <a:pt x="7524242" y="1313307"/>
                  </a:lnTo>
                  <a:cubicBezTo>
                    <a:pt x="7524242" y="1458341"/>
                    <a:pt x="7406639" y="1575943"/>
                    <a:pt x="7261606" y="1575943"/>
                  </a:cubicBezTo>
                  <a:lnTo>
                    <a:pt x="262636" y="1575943"/>
                  </a:lnTo>
                  <a:cubicBezTo>
                    <a:pt x="117602" y="1576070"/>
                    <a:pt x="0" y="1458468"/>
                    <a:pt x="0" y="1313307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2156439" y="5464898"/>
            <a:ext cx="104396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 dirty="0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SENAI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56439" y="5980235"/>
            <a:ext cx="4886754" cy="21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Salto Veloso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3431" y="521618"/>
            <a:ext cx="1098137" cy="61770"/>
            <a:chOff x="0" y="0"/>
            <a:chExt cx="1464183" cy="82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183" cy="82423"/>
            </a:xfrm>
            <a:custGeom>
              <a:avLst/>
              <a:gdLst/>
              <a:ahLst/>
              <a:cxnLst/>
              <a:rect l="l" t="t" r="r" b="b"/>
              <a:pathLst>
                <a:path w="1464183" h="82423">
                  <a:moveTo>
                    <a:pt x="0" y="0"/>
                  </a:moveTo>
                  <a:lnTo>
                    <a:pt x="1464183" y="0"/>
                  </a:lnTo>
                  <a:lnTo>
                    <a:pt x="1464183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9667" y="603952"/>
            <a:ext cx="7906636" cy="28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01 • OBJETIVO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9667" y="1098118"/>
            <a:ext cx="16142675" cy="83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Qual problema o projeto resolve?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9686" y="2031559"/>
            <a:ext cx="1578569" cy="75495"/>
            <a:chOff x="0" y="0"/>
            <a:chExt cx="2104758" cy="1006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04771" cy="100711"/>
            </a:xfrm>
            <a:custGeom>
              <a:avLst/>
              <a:gdLst/>
              <a:ahLst/>
              <a:cxnLst/>
              <a:rect l="l" t="t" r="r" b="b"/>
              <a:pathLst>
                <a:path w="2104771" h="10071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60853" y="9736426"/>
            <a:ext cx="7494832" cy="2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AEBED3"/>
                </a:solidFill>
                <a:latin typeface="Aptos Bold"/>
                <a:ea typeface="Aptos Bold"/>
                <a:cs typeface="Aptos Bold"/>
                <a:sym typeface="Aptos Bold"/>
              </a:rPr>
              <a:t>SENAI • DESENVOLVIMENTO DE SISTEMAS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5756" y="2498246"/>
            <a:ext cx="15730871" cy="83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Uma empresa precisa manter seus dados organizados para controlar as vendas com mais confiança.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1880" y="4110390"/>
            <a:ext cx="5162769" cy="3515563"/>
            <a:chOff x="0" y="0"/>
            <a:chExt cx="6883692" cy="46874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3781" cy="4687443"/>
            </a:xfrm>
            <a:custGeom>
              <a:avLst/>
              <a:gdLst/>
              <a:ahLst/>
              <a:cxnLst/>
              <a:rect l="l" t="t" r="r" b="b"/>
              <a:pathLst>
                <a:path w="6883781" h="4687443">
                  <a:moveTo>
                    <a:pt x="0" y="781304"/>
                  </a:moveTo>
                  <a:cubicBezTo>
                    <a:pt x="0" y="349758"/>
                    <a:pt x="349758" y="0"/>
                    <a:pt x="781304" y="0"/>
                  </a:cubicBezTo>
                  <a:lnTo>
                    <a:pt x="6102477" y="0"/>
                  </a:lnTo>
                  <a:cubicBezTo>
                    <a:pt x="6533897" y="0"/>
                    <a:pt x="6883781" y="349758"/>
                    <a:pt x="6883781" y="781304"/>
                  </a:cubicBezTo>
                  <a:lnTo>
                    <a:pt x="6883781" y="3906139"/>
                  </a:lnTo>
                  <a:cubicBezTo>
                    <a:pt x="6883781" y="4337558"/>
                    <a:pt x="6534023" y="4687443"/>
                    <a:pt x="6102477" y="4687443"/>
                  </a:cubicBezTo>
                  <a:lnTo>
                    <a:pt x="781304" y="4687443"/>
                  </a:lnTo>
                  <a:cubicBezTo>
                    <a:pt x="349758" y="4687443"/>
                    <a:pt x="0" y="4337685"/>
                    <a:pt x="0" y="3906139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358922" y="4488618"/>
            <a:ext cx="906008" cy="5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8922" y="5312216"/>
            <a:ext cx="4337685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CENTRALIZAR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8922" y="5998559"/>
            <a:ext cx="4269057" cy="118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Reunir informações que poderiam ficar espalhadas em planilhas e arquivos.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718468" y="4110390"/>
            <a:ext cx="5162769" cy="3515563"/>
            <a:chOff x="0" y="0"/>
            <a:chExt cx="6883692" cy="468741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83781" cy="4687443"/>
            </a:xfrm>
            <a:custGeom>
              <a:avLst/>
              <a:gdLst/>
              <a:ahLst/>
              <a:cxnLst/>
              <a:rect l="l" t="t" r="r" b="b"/>
              <a:pathLst>
                <a:path w="6883781" h="4687443">
                  <a:moveTo>
                    <a:pt x="0" y="781304"/>
                  </a:moveTo>
                  <a:cubicBezTo>
                    <a:pt x="0" y="349758"/>
                    <a:pt x="349758" y="0"/>
                    <a:pt x="781304" y="0"/>
                  </a:cubicBezTo>
                  <a:lnTo>
                    <a:pt x="6102477" y="0"/>
                  </a:lnTo>
                  <a:cubicBezTo>
                    <a:pt x="6533897" y="0"/>
                    <a:pt x="6883781" y="349758"/>
                    <a:pt x="6883781" y="781304"/>
                  </a:cubicBezTo>
                  <a:lnTo>
                    <a:pt x="6883781" y="3906139"/>
                  </a:lnTo>
                  <a:cubicBezTo>
                    <a:pt x="6883781" y="4337558"/>
                    <a:pt x="6534023" y="4687443"/>
                    <a:pt x="6102477" y="4687443"/>
                  </a:cubicBezTo>
                  <a:lnTo>
                    <a:pt x="781304" y="4687443"/>
                  </a:lnTo>
                  <a:cubicBezTo>
                    <a:pt x="349758" y="4687443"/>
                    <a:pt x="0" y="4337685"/>
                    <a:pt x="0" y="3906139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7055510" y="4488618"/>
            <a:ext cx="906008" cy="5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55510" y="5312216"/>
            <a:ext cx="4337685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ORGANIZAR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55510" y="5998559"/>
            <a:ext cx="4269057" cy="118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Separar clientes, produtos e pedidos em tabelas relacionadas.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415056" y="4110390"/>
            <a:ext cx="5162769" cy="3515563"/>
            <a:chOff x="0" y="0"/>
            <a:chExt cx="6883692" cy="46874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83781" cy="4687443"/>
            </a:xfrm>
            <a:custGeom>
              <a:avLst/>
              <a:gdLst/>
              <a:ahLst/>
              <a:cxnLst/>
              <a:rect l="l" t="t" r="r" b="b"/>
              <a:pathLst>
                <a:path w="6883781" h="4687443">
                  <a:moveTo>
                    <a:pt x="0" y="781304"/>
                  </a:moveTo>
                  <a:cubicBezTo>
                    <a:pt x="0" y="349758"/>
                    <a:pt x="349758" y="0"/>
                    <a:pt x="781304" y="0"/>
                  </a:cubicBezTo>
                  <a:lnTo>
                    <a:pt x="6102477" y="0"/>
                  </a:lnTo>
                  <a:cubicBezTo>
                    <a:pt x="6533897" y="0"/>
                    <a:pt x="6883781" y="349758"/>
                    <a:pt x="6883781" y="781304"/>
                  </a:cubicBezTo>
                  <a:lnTo>
                    <a:pt x="6883781" y="3906139"/>
                  </a:lnTo>
                  <a:cubicBezTo>
                    <a:pt x="6883781" y="4337558"/>
                    <a:pt x="6534023" y="4687443"/>
                    <a:pt x="6102477" y="4687443"/>
                  </a:cubicBezTo>
                  <a:lnTo>
                    <a:pt x="781304" y="4687443"/>
                  </a:lnTo>
                  <a:cubicBezTo>
                    <a:pt x="349758" y="4687443"/>
                    <a:pt x="0" y="4337685"/>
                    <a:pt x="0" y="3906139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2752108" y="4488618"/>
            <a:ext cx="906008" cy="5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52108" y="5312216"/>
            <a:ext cx="4337685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CONSULTAR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52108" y="5998559"/>
            <a:ext cx="4269057" cy="118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Encontrar dados e gerar análises para apoiar decisões.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3431" y="521618"/>
            <a:ext cx="1098137" cy="61770"/>
            <a:chOff x="0" y="0"/>
            <a:chExt cx="1464183" cy="82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183" cy="82423"/>
            </a:xfrm>
            <a:custGeom>
              <a:avLst/>
              <a:gdLst/>
              <a:ahLst/>
              <a:cxnLst/>
              <a:rect l="l" t="t" r="r" b="b"/>
              <a:pathLst>
                <a:path w="1464183" h="82423">
                  <a:moveTo>
                    <a:pt x="0" y="0"/>
                  </a:moveTo>
                  <a:lnTo>
                    <a:pt x="1464183" y="0"/>
                  </a:lnTo>
                  <a:lnTo>
                    <a:pt x="1464183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9667" y="1098118"/>
            <a:ext cx="16142675" cy="83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Tecnologias e tipo de banco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9686" y="2031559"/>
            <a:ext cx="1578569" cy="75495"/>
            <a:chOff x="0" y="0"/>
            <a:chExt cx="2104758" cy="1006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4771" cy="100711"/>
            </a:xfrm>
            <a:custGeom>
              <a:avLst/>
              <a:gdLst/>
              <a:ahLst/>
              <a:cxnLst/>
              <a:rect l="l" t="t" r="r" b="b"/>
              <a:pathLst>
                <a:path w="2104771" h="10071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60853" y="9736426"/>
            <a:ext cx="7494832" cy="2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AEBED3"/>
                </a:solidFill>
                <a:latin typeface="Aptos Bold"/>
                <a:ea typeface="Aptos Bold"/>
                <a:cs typeface="Aptos Bold"/>
                <a:sym typeface="Aptos Bold"/>
              </a:rPr>
              <a:t>SENAI • DESENVOLVIMENTO DE SISTEMAS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1880" y="2531821"/>
            <a:ext cx="7153151" cy="6260916"/>
            <a:chOff x="0" y="0"/>
            <a:chExt cx="9537535" cy="83478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37446" cy="8347711"/>
            </a:xfrm>
            <a:custGeom>
              <a:avLst/>
              <a:gdLst/>
              <a:ahLst/>
              <a:cxnLst/>
              <a:rect l="l" t="t" r="r" b="b"/>
              <a:pathLst>
                <a:path w="9537446" h="8347711">
                  <a:moveTo>
                    <a:pt x="0" y="1391285"/>
                  </a:moveTo>
                  <a:cubicBezTo>
                    <a:pt x="0" y="622935"/>
                    <a:pt x="622935" y="0"/>
                    <a:pt x="1391285" y="0"/>
                  </a:cubicBezTo>
                  <a:lnTo>
                    <a:pt x="8146161" y="0"/>
                  </a:lnTo>
                  <a:cubicBezTo>
                    <a:pt x="8914638" y="0"/>
                    <a:pt x="9537446" y="622935"/>
                    <a:pt x="9537446" y="1391285"/>
                  </a:cubicBezTo>
                  <a:lnTo>
                    <a:pt x="9537446" y="6956425"/>
                  </a:lnTo>
                  <a:cubicBezTo>
                    <a:pt x="9537446" y="7724902"/>
                    <a:pt x="8914511" y="8347711"/>
                    <a:pt x="8146161" y="8347711"/>
                  </a:cubicBezTo>
                  <a:lnTo>
                    <a:pt x="1391285" y="8347711"/>
                  </a:lnTo>
                  <a:cubicBezTo>
                    <a:pt x="622935" y="8347837"/>
                    <a:pt x="0" y="7724902"/>
                    <a:pt x="0" y="6956552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468736" y="2978677"/>
            <a:ext cx="6122165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BANCO RELACIONAL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8736" y="3761099"/>
            <a:ext cx="5916263" cy="138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Os dados ficam em tabelas com linhas e colunas. As tabelas podem ser conectadas por chaves.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736" y="5577230"/>
            <a:ext cx="5916263" cy="36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AEBED3"/>
                </a:solidFill>
                <a:latin typeface="Aptos Bold"/>
                <a:ea typeface="Aptos Bold"/>
                <a:cs typeface="Aptos Bold"/>
                <a:sym typeface="Aptos Bold"/>
              </a:rPr>
              <a:t>Tecnologias citadas no projeto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8736" y="6177001"/>
            <a:ext cx="5984891" cy="52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SQL — linguagem para consultar e manipular dados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8736" y="6890795"/>
            <a:ext cx="5984891" cy="52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MySQL / MariaDB — gerenciamento do banco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8736" y="7604579"/>
            <a:ext cx="5984891" cy="52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Chaves primárias e estrangeiras — identificação e ligação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708841" y="2531821"/>
            <a:ext cx="8457190" cy="6260916"/>
            <a:chOff x="0" y="0"/>
            <a:chExt cx="11276254" cy="83478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276203" cy="8347711"/>
            </a:xfrm>
            <a:custGeom>
              <a:avLst/>
              <a:gdLst/>
              <a:ahLst/>
              <a:cxnLst/>
              <a:rect l="l" t="t" r="r" b="b"/>
              <a:pathLst>
                <a:path w="11276203" h="8347711">
                  <a:moveTo>
                    <a:pt x="0" y="1391285"/>
                  </a:moveTo>
                  <a:cubicBezTo>
                    <a:pt x="0" y="622935"/>
                    <a:pt x="622935" y="0"/>
                    <a:pt x="1391285" y="0"/>
                  </a:cubicBezTo>
                  <a:lnTo>
                    <a:pt x="9884918" y="0"/>
                  </a:lnTo>
                  <a:cubicBezTo>
                    <a:pt x="10653395" y="0"/>
                    <a:pt x="11276203" y="622935"/>
                    <a:pt x="11276203" y="1391285"/>
                  </a:cubicBezTo>
                  <a:lnTo>
                    <a:pt x="11276203" y="6956425"/>
                  </a:lnTo>
                  <a:cubicBezTo>
                    <a:pt x="11276203" y="7724902"/>
                    <a:pt x="10653268" y="8347711"/>
                    <a:pt x="9884918" y="8347711"/>
                  </a:cubicBezTo>
                  <a:lnTo>
                    <a:pt x="1391285" y="8347711"/>
                  </a:lnTo>
                  <a:cubicBezTo>
                    <a:pt x="622935" y="8347837"/>
                    <a:pt x="0" y="7724902"/>
                    <a:pt x="0" y="6956552"/>
                  </a:cubicBezTo>
                  <a:close/>
                </a:path>
              </a:pathLst>
            </a:custGeom>
            <a:solidFill>
              <a:srgbClr val="08101D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224334" y="2978677"/>
            <a:ext cx="7220302" cy="35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EXEMPLO DE CONSULTA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89282" y="3767223"/>
            <a:ext cx="7359053" cy="2280161"/>
            <a:chOff x="0" y="0"/>
            <a:chExt cx="9812071" cy="30402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12020" cy="3040253"/>
            </a:xfrm>
            <a:custGeom>
              <a:avLst/>
              <a:gdLst/>
              <a:ahLst/>
              <a:cxnLst/>
              <a:rect l="l" t="t" r="r" b="b"/>
              <a:pathLst>
                <a:path w="9812020" h="3040253">
                  <a:moveTo>
                    <a:pt x="0" y="506730"/>
                  </a:moveTo>
                  <a:cubicBezTo>
                    <a:pt x="0" y="226822"/>
                    <a:pt x="226822" y="0"/>
                    <a:pt x="506730" y="0"/>
                  </a:cubicBezTo>
                  <a:lnTo>
                    <a:pt x="9305290" y="0"/>
                  </a:lnTo>
                  <a:cubicBezTo>
                    <a:pt x="9585198" y="0"/>
                    <a:pt x="9812020" y="226822"/>
                    <a:pt x="9812020" y="506730"/>
                  </a:cubicBezTo>
                  <a:lnTo>
                    <a:pt x="9812020" y="2533523"/>
                  </a:lnTo>
                  <a:cubicBezTo>
                    <a:pt x="9812020" y="2813431"/>
                    <a:pt x="9585198" y="3040253"/>
                    <a:pt x="9305290" y="3040253"/>
                  </a:cubicBezTo>
                  <a:lnTo>
                    <a:pt x="506730" y="3040253"/>
                  </a:lnTo>
                  <a:cubicBezTo>
                    <a:pt x="226822" y="3040253"/>
                    <a:pt x="0" y="2813431"/>
                    <a:pt x="0" y="2533523"/>
                  </a:cubicBezTo>
                  <a:close/>
                </a:path>
              </a:pathLst>
            </a:custGeom>
            <a:solidFill>
              <a:srgbClr val="070D18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443990" y="3919395"/>
            <a:ext cx="6849637" cy="192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9DCFF"/>
                </a:solidFill>
                <a:latin typeface="Consolas"/>
                <a:ea typeface="Consolas"/>
                <a:cs typeface="Consolas"/>
                <a:sym typeface="Consolas"/>
              </a:rPr>
              <a:t>SELECT nome, preco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9DCFF"/>
                </a:solidFill>
                <a:latin typeface="Consolas"/>
                <a:ea typeface="Consolas"/>
                <a:cs typeface="Consolas"/>
                <a:sym typeface="Consolas"/>
              </a:rPr>
              <a:t>FROM produtos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49DCFF"/>
                </a:solidFill>
                <a:latin typeface="Consolas"/>
                <a:ea typeface="Consolas"/>
                <a:cs typeface="Consolas"/>
                <a:sym typeface="Consolas"/>
              </a:rPr>
              <a:t>ORDER BY nome;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1794" y="6616256"/>
            <a:ext cx="7083028" cy="1043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Essa consulta lista o nome e o preço dos produtos, organizados pelo nome.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51794" y="7920295"/>
            <a:ext cx="7151665" cy="5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4EDCA4"/>
                </a:solidFill>
                <a:latin typeface="Aptos Bold"/>
                <a:ea typeface="Aptos Bold"/>
                <a:cs typeface="Aptos Bold"/>
                <a:sym typeface="Aptos Bold"/>
              </a:rPr>
              <a:t>SQL transforma os dados armazenados em informações que podemos consultar.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3431" y="521618"/>
            <a:ext cx="1098137" cy="61770"/>
            <a:chOff x="0" y="0"/>
            <a:chExt cx="1464183" cy="82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183" cy="82423"/>
            </a:xfrm>
            <a:custGeom>
              <a:avLst/>
              <a:gdLst/>
              <a:ahLst/>
              <a:cxnLst/>
              <a:rect l="l" t="t" r="r" b="b"/>
              <a:pathLst>
                <a:path w="1464183" h="82423">
                  <a:moveTo>
                    <a:pt x="0" y="0"/>
                  </a:moveTo>
                  <a:lnTo>
                    <a:pt x="1464183" y="0"/>
                  </a:lnTo>
                  <a:lnTo>
                    <a:pt x="1464183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9667" y="1098118"/>
            <a:ext cx="16142675" cy="83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Como os dados são organizados?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9686" y="2031559"/>
            <a:ext cx="1578569" cy="75495"/>
            <a:chOff x="0" y="0"/>
            <a:chExt cx="2104758" cy="1006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4771" cy="100711"/>
            </a:xfrm>
            <a:custGeom>
              <a:avLst/>
              <a:gdLst/>
              <a:ahLst/>
              <a:cxnLst/>
              <a:rect l="l" t="t" r="r" b="b"/>
              <a:pathLst>
                <a:path w="2104771" h="10071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60853" y="9736426"/>
            <a:ext cx="7494832" cy="2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AEBED3"/>
                </a:solidFill>
                <a:latin typeface="Aptos Bold"/>
                <a:ea typeface="Aptos Bold"/>
                <a:cs typeface="Aptos Bold"/>
                <a:sym typeface="Aptos Bold"/>
              </a:rPr>
              <a:t>SENAI • DESENVOLVIMENTO DE SISTEMAS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59145" y="2737723"/>
            <a:ext cx="4750975" cy="3378298"/>
            <a:chOff x="0" y="0"/>
            <a:chExt cx="6334633" cy="45043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34633" cy="4504309"/>
            </a:xfrm>
            <a:custGeom>
              <a:avLst/>
              <a:gdLst/>
              <a:ahLst/>
              <a:cxnLst/>
              <a:rect l="l" t="t" r="r" b="b"/>
              <a:pathLst>
                <a:path w="6334633" h="4504309">
                  <a:moveTo>
                    <a:pt x="0" y="750697"/>
                  </a:moveTo>
                  <a:cubicBezTo>
                    <a:pt x="0" y="336169"/>
                    <a:pt x="336169" y="0"/>
                    <a:pt x="750697" y="0"/>
                  </a:cubicBezTo>
                  <a:lnTo>
                    <a:pt x="5583936" y="0"/>
                  </a:lnTo>
                  <a:cubicBezTo>
                    <a:pt x="5998591" y="0"/>
                    <a:pt x="6334633" y="336169"/>
                    <a:pt x="6334633" y="750697"/>
                  </a:cubicBezTo>
                  <a:lnTo>
                    <a:pt x="6334633" y="3753612"/>
                  </a:lnTo>
                  <a:cubicBezTo>
                    <a:pt x="6334633" y="4168267"/>
                    <a:pt x="5998464" y="4504309"/>
                    <a:pt x="5583936" y="4504309"/>
                  </a:cubicBezTo>
                  <a:lnTo>
                    <a:pt x="750697" y="4504309"/>
                  </a:lnTo>
                  <a:cubicBezTo>
                    <a:pt x="336169" y="4504436"/>
                    <a:pt x="0" y="4168267"/>
                    <a:pt x="0" y="3753612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468736" y="3115942"/>
            <a:ext cx="4131783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CLIENTES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7373" y="3939550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id_cliente (PK)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7373" y="4529795"/>
            <a:ext cx="399451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nome • CPF/CNPJ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7373" y="5120049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endereço • telefone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49831" y="2737723"/>
            <a:ext cx="4750975" cy="3378298"/>
            <a:chOff x="0" y="0"/>
            <a:chExt cx="6334633" cy="45043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34633" cy="4504309"/>
            </a:xfrm>
            <a:custGeom>
              <a:avLst/>
              <a:gdLst/>
              <a:ahLst/>
              <a:cxnLst/>
              <a:rect l="l" t="t" r="r" b="b"/>
              <a:pathLst>
                <a:path w="6334633" h="4504309">
                  <a:moveTo>
                    <a:pt x="0" y="750697"/>
                  </a:moveTo>
                  <a:cubicBezTo>
                    <a:pt x="0" y="336169"/>
                    <a:pt x="336169" y="0"/>
                    <a:pt x="750697" y="0"/>
                  </a:cubicBezTo>
                  <a:lnTo>
                    <a:pt x="5583936" y="0"/>
                  </a:lnTo>
                  <a:cubicBezTo>
                    <a:pt x="5998591" y="0"/>
                    <a:pt x="6334633" y="336169"/>
                    <a:pt x="6334633" y="750697"/>
                  </a:cubicBezTo>
                  <a:lnTo>
                    <a:pt x="6334633" y="3753612"/>
                  </a:lnTo>
                  <a:cubicBezTo>
                    <a:pt x="6334633" y="4168267"/>
                    <a:pt x="5998464" y="4504309"/>
                    <a:pt x="5583936" y="4504309"/>
                  </a:cubicBezTo>
                  <a:lnTo>
                    <a:pt x="750697" y="4504309"/>
                  </a:lnTo>
                  <a:cubicBezTo>
                    <a:pt x="336169" y="4504436"/>
                    <a:pt x="0" y="4168267"/>
                    <a:pt x="0" y="3753612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6959432" y="3115942"/>
            <a:ext cx="4131783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PRODUTOS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28059" y="3939550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id_produto (PK)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28059" y="4529795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nome • preço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28059" y="5120049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estoque • categoria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140527" y="2737723"/>
            <a:ext cx="4750975" cy="3378298"/>
            <a:chOff x="0" y="0"/>
            <a:chExt cx="6334633" cy="450439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34633" cy="4504309"/>
            </a:xfrm>
            <a:custGeom>
              <a:avLst/>
              <a:gdLst/>
              <a:ahLst/>
              <a:cxnLst/>
              <a:rect l="l" t="t" r="r" b="b"/>
              <a:pathLst>
                <a:path w="6334633" h="4504309">
                  <a:moveTo>
                    <a:pt x="0" y="750697"/>
                  </a:moveTo>
                  <a:cubicBezTo>
                    <a:pt x="0" y="336169"/>
                    <a:pt x="336169" y="0"/>
                    <a:pt x="750697" y="0"/>
                  </a:cubicBezTo>
                  <a:lnTo>
                    <a:pt x="5583936" y="0"/>
                  </a:lnTo>
                  <a:cubicBezTo>
                    <a:pt x="5998591" y="0"/>
                    <a:pt x="6334633" y="336169"/>
                    <a:pt x="6334633" y="750697"/>
                  </a:cubicBezTo>
                  <a:lnTo>
                    <a:pt x="6334633" y="3753612"/>
                  </a:lnTo>
                  <a:cubicBezTo>
                    <a:pt x="6334633" y="4168267"/>
                    <a:pt x="5998464" y="4504309"/>
                    <a:pt x="5583936" y="4504309"/>
                  </a:cubicBezTo>
                  <a:lnTo>
                    <a:pt x="750697" y="4504309"/>
                  </a:lnTo>
                  <a:cubicBezTo>
                    <a:pt x="336169" y="4504436"/>
                    <a:pt x="0" y="4168267"/>
                    <a:pt x="0" y="3753612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12450118" y="3115942"/>
            <a:ext cx="4131783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PEDIDOS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18755" y="3939550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id_pedido (PK)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18755" y="4529795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id_cliente (FK)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18755" y="5120049"/>
            <a:ext cx="3994518" cy="41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• id_produto (FK) • quantidade • data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929941" y="4049382"/>
            <a:ext cx="576520" cy="576520"/>
            <a:chOff x="0" y="0"/>
            <a:chExt cx="768693" cy="76869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68731" cy="768731"/>
            </a:xfrm>
            <a:custGeom>
              <a:avLst/>
              <a:gdLst/>
              <a:ahLst/>
              <a:cxnLst/>
              <a:rect l="l" t="t" r="r" b="b"/>
              <a:pathLst>
                <a:path w="768731" h="768731">
                  <a:moveTo>
                    <a:pt x="0" y="192151"/>
                  </a:moveTo>
                  <a:lnTo>
                    <a:pt x="384302" y="192151"/>
                  </a:lnTo>
                  <a:lnTo>
                    <a:pt x="384302" y="0"/>
                  </a:lnTo>
                  <a:lnTo>
                    <a:pt x="768731" y="384302"/>
                  </a:lnTo>
                  <a:lnTo>
                    <a:pt x="384302" y="768731"/>
                  </a:lnTo>
                  <a:lnTo>
                    <a:pt x="384302" y="576580"/>
                  </a:lnTo>
                  <a:lnTo>
                    <a:pt x="0" y="576580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420637" y="4049382"/>
            <a:ext cx="576520" cy="576520"/>
            <a:chOff x="0" y="0"/>
            <a:chExt cx="768693" cy="7686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68731" cy="768731"/>
            </a:xfrm>
            <a:custGeom>
              <a:avLst/>
              <a:gdLst/>
              <a:ahLst/>
              <a:cxnLst/>
              <a:rect l="l" t="t" r="r" b="b"/>
              <a:pathLst>
                <a:path w="768731" h="768731">
                  <a:moveTo>
                    <a:pt x="0" y="192151"/>
                  </a:moveTo>
                  <a:lnTo>
                    <a:pt x="384302" y="192151"/>
                  </a:lnTo>
                  <a:lnTo>
                    <a:pt x="384302" y="0"/>
                  </a:lnTo>
                  <a:lnTo>
                    <a:pt x="768731" y="384302"/>
                  </a:lnTo>
                  <a:lnTo>
                    <a:pt x="384302" y="768731"/>
                  </a:lnTo>
                  <a:lnTo>
                    <a:pt x="384302" y="576580"/>
                  </a:lnTo>
                  <a:lnTo>
                    <a:pt x="0" y="576580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502312" y="6855733"/>
            <a:ext cx="15251916" cy="1456553"/>
            <a:chOff x="0" y="0"/>
            <a:chExt cx="20335888" cy="194207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335875" cy="1942084"/>
            </a:xfrm>
            <a:custGeom>
              <a:avLst/>
              <a:gdLst/>
              <a:ahLst/>
              <a:cxnLst/>
              <a:rect l="l" t="t" r="r" b="b"/>
              <a:pathLst>
                <a:path w="20335875" h="1942084">
                  <a:moveTo>
                    <a:pt x="0" y="323723"/>
                  </a:moveTo>
                  <a:cubicBezTo>
                    <a:pt x="0" y="144907"/>
                    <a:pt x="144907" y="0"/>
                    <a:pt x="323723" y="0"/>
                  </a:cubicBezTo>
                  <a:lnTo>
                    <a:pt x="20012152" y="0"/>
                  </a:lnTo>
                  <a:cubicBezTo>
                    <a:pt x="20190968" y="0"/>
                    <a:pt x="20335875" y="144907"/>
                    <a:pt x="20335875" y="323723"/>
                  </a:cubicBezTo>
                  <a:lnTo>
                    <a:pt x="20335875" y="1618361"/>
                  </a:lnTo>
                  <a:cubicBezTo>
                    <a:pt x="20335875" y="1797177"/>
                    <a:pt x="20190968" y="1942084"/>
                    <a:pt x="20012152" y="1942084"/>
                  </a:cubicBezTo>
                  <a:lnTo>
                    <a:pt x="323723" y="1942084"/>
                  </a:lnTo>
                  <a:cubicBezTo>
                    <a:pt x="144907" y="1942084"/>
                    <a:pt x="0" y="1797177"/>
                    <a:pt x="0" y="1618361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1949177" y="7224436"/>
            <a:ext cx="3514087" cy="36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RELACIONAMENTO 1:N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18118" y="7137873"/>
            <a:ext cx="10651979" cy="768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Um cliente pode realizar vários pedidos. As chaves estrangeiras conectam os registros e evitam repetir dados desnecessariamente.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3431" y="521618"/>
            <a:ext cx="1098137" cy="61770"/>
            <a:chOff x="0" y="0"/>
            <a:chExt cx="1464183" cy="82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183" cy="82423"/>
            </a:xfrm>
            <a:custGeom>
              <a:avLst/>
              <a:gdLst/>
              <a:ahLst/>
              <a:cxnLst/>
              <a:rect l="l" t="t" r="r" b="b"/>
              <a:pathLst>
                <a:path w="1464183" h="82423">
                  <a:moveTo>
                    <a:pt x="0" y="0"/>
                  </a:moveTo>
                  <a:lnTo>
                    <a:pt x="1464183" y="0"/>
                  </a:lnTo>
                  <a:lnTo>
                    <a:pt x="1464183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9667" y="1098118"/>
            <a:ext cx="16142675" cy="83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Recursos que ampliam o banco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9686" y="2031559"/>
            <a:ext cx="1578569" cy="75495"/>
            <a:chOff x="0" y="0"/>
            <a:chExt cx="2104758" cy="1006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4771" cy="100711"/>
            </a:xfrm>
            <a:custGeom>
              <a:avLst/>
              <a:gdLst/>
              <a:ahLst/>
              <a:cxnLst/>
              <a:rect l="l" t="t" r="r" b="b"/>
              <a:pathLst>
                <a:path w="2104771" h="10071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60853" y="9736426"/>
            <a:ext cx="7494832" cy="2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AEBED3"/>
                </a:solidFill>
                <a:latin typeface="Aptos Bold"/>
                <a:ea typeface="Aptos Bold"/>
                <a:cs typeface="Aptos Bold"/>
                <a:sym typeface="Aptos Bold"/>
              </a:rPr>
              <a:t>SENAI • DESENVOLVIMENTO DE SISTEMAS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59145" y="2669086"/>
            <a:ext cx="15938249" cy="1662455"/>
            <a:chOff x="0" y="0"/>
            <a:chExt cx="21250999" cy="22166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251036" cy="2216658"/>
            </a:xfrm>
            <a:custGeom>
              <a:avLst/>
              <a:gdLst/>
              <a:ahLst/>
              <a:cxnLst/>
              <a:rect l="l" t="t" r="r" b="b"/>
              <a:pathLst>
                <a:path w="21251036" h="2216658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20881594" y="0"/>
                  </a:lnTo>
                  <a:cubicBezTo>
                    <a:pt x="21085683" y="0"/>
                    <a:pt x="21251036" y="165354"/>
                    <a:pt x="21251036" y="369443"/>
                  </a:cubicBezTo>
                  <a:lnTo>
                    <a:pt x="21251036" y="1847215"/>
                  </a:lnTo>
                  <a:cubicBezTo>
                    <a:pt x="21251036" y="2051304"/>
                    <a:pt x="21085683" y="2216658"/>
                    <a:pt x="20881594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66774" y="2676716"/>
            <a:ext cx="109814" cy="1647206"/>
            <a:chOff x="0" y="0"/>
            <a:chExt cx="146418" cy="21962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431" cy="2196338"/>
            </a:xfrm>
            <a:custGeom>
              <a:avLst/>
              <a:gdLst/>
              <a:ahLst/>
              <a:cxnLst/>
              <a:rect l="l" t="t" r="r" b="b"/>
              <a:pathLst>
                <a:path w="146431" h="2196338">
                  <a:moveTo>
                    <a:pt x="0" y="0"/>
                  </a:moveTo>
                  <a:lnTo>
                    <a:pt x="146431" y="0"/>
                  </a:lnTo>
                  <a:lnTo>
                    <a:pt x="146431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647187" y="2951226"/>
            <a:ext cx="2965018" cy="35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PROCEDURES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25883" y="2914250"/>
            <a:ext cx="7632097" cy="53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Rotinas SQL armazenadas para executar tarefas padronizadas.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25883" y="3555197"/>
            <a:ext cx="11475587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Ex.: sp_inserir_produto e sp_inserir_pedido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59145" y="4755547"/>
            <a:ext cx="15938249" cy="1662455"/>
            <a:chOff x="0" y="0"/>
            <a:chExt cx="21250999" cy="22166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251036" cy="2216658"/>
            </a:xfrm>
            <a:custGeom>
              <a:avLst/>
              <a:gdLst/>
              <a:ahLst/>
              <a:cxnLst/>
              <a:rect l="l" t="t" r="r" b="b"/>
              <a:pathLst>
                <a:path w="21251036" h="2216658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20881594" y="0"/>
                  </a:lnTo>
                  <a:cubicBezTo>
                    <a:pt x="21085683" y="0"/>
                    <a:pt x="21251036" y="165354"/>
                    <a:pt x="21251036" y="369443"/>
                  </a:cubicBezTo>
                  <a:lnTo>
                    <a:pt x="21251036" y="1847215"/>
                  </a:lnTo>
                  <a:cubicBezTo>
                    <a:pt x="21251036" y="2051304"/>
                    <a:pt x="21085683" y="2216658"/>
                    <a:pt x="20881594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166774" y="4763176"/>
            <a:ext cx="109814" cy="1647206"/>
            <a:chOff x="0" y="0"/>
            <a:chExt cx="146418" cy="21962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431" cy="2196338"/>
            </a:xfrm>
            <a:custGeom>
              <a:avLst/>
              <a:gdLst/>
              <a:ahLst/>
              <a:cxnLst/>
              <a:rect l="l" t="t" r="r" b="b"/>
              <a:pathLst>
                <a:path w="146431" h="2196338">
                  <a:moveTo>
                    <a:pt x="0" y="0"/>
                  </a:moveTo>
                  <a:lnTo>
                    <a:pt x="146431" y="0"/>
                  </a:lnTo>
                  <a:lnTo>
                    <a:pt x="146431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647187" y="5037687"/>
            <a:ext cx="2965018" cy="35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VIEWS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25883" y="5000711"/>
            <a:ext cx="7632097" cy="53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Consultas salvas que facilitam a leitura e análise dos dados.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25883" y="5641658"/>
            <a:ext cx="11475587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Ex.: clientes que mais compraram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59145" y="6842008"/>
            <a:ext cx="15938249" cy="1662455"/>
            <a:chOff x="0" y="0"/>
            <a:chExt cx="21250999" cy="221660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251036" cy="2216658"/>
            </a:xfrm>
            <a:custGeom>
              <a:avLst/>
              <a:gdLst/>
              <a:ahLst/>
              <a:cxnLst/>
              <a:rect l="l" t="t" r="r" b="b"/>
              <a:pathLst>
                <a:path w="21251036" h="2216658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20881594" y="0"/>
                  </a:lnTo>
                  <a:cubicBezTo>
                    <a:pt x="21085683" y="0"/>
                    <a:pt x="21251036" y="165354"/>
                    <a:pt x="21251036" y="369443"/>
                  </a:cubicBezTo>
                  <a:lnTo>
                    <a:pt x="21251036" y="1847215"/>
                  </a:lnTo>
                  <a:cubicBezTo>
                    <a:pt x="21251036" y="2051304"/>
                    <a:pt x="21085683" y="2216658"/>
                    <a:pt x="20881594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166774" y="6849637"/>
            <a:ext cx="109814" cy="1647206"/>
            <a:chOff x="0" y="0"/>
            <a:chExt cx="146418" cy="219627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431" cy="2196338"/>
            </a:xfrm>
            <a:custGeom>
              <a:avLst/>
              <a:gdLst/>
              <a:ahLst/>
              <a:cxnLst/>
              <a:rect l="l" t="t" r="r" b="b"/>
              <a:pathLst>
                <a:path w="146431" h="2196338">
                  <a:moveTo>
                    <a:pt x="0" y="0"/>
                  </a:moveTo>
                  <a:lnTo>
                    <a:pt x="146431" y="0"/>
                  </a:lnTo>
                  <a:lnTo>
                    <a:pt x="146431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647187" y="7124148"/>
            <a:ext cx="2965018" cy="35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TRIGGERS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25883" y="7087171"/>
            <a:ext cx="7632097" cy="531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2F7FF"/>
                </a:solidFill>
                <a:latin typeface="Aptos"/>
                <a:ea typeface="Aptos"/>
                <a:cs typeface="Aptos"/>
                <a:sym typeface="Aptos"/>
              </a:rPr>
              <a:t>Ações automáticas disparadas por INSERT, UPDATE ou DELETE.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25883" y="7728128"/>
            <a:ext cx="11475587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Ex.: atualizar estoque após inserir um pedido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3431" y="521618"/>
            <a:ext cx="1098137" cy="61770"/>
            <a:chOff x="0" y="0"/>
            <a:chExt cx="1464183" cy="82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183" cy="82423"/>
            </a:xfrm>
            <a:custGeom>
              <a:avLst/>
              <a:gdLst/>
              <a:ahLst/>
              <a:cxnLst/>
              <a:rect l="l" t="t" r="r" b="b"/>
              <a:pathLst>
                <a:path w="1464183" h="82423">
                  <a:moveTo>
                    <a:pt x="0" y="0"/>
                  </a:moveTo>
                  <a:lnTo>
                    <a:pt x="1464183" y="0"/>
                  </a:lnTo>
                  <a:lnTo>
                    <a:pt x="1464183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9667" y="1098118"/>
            <a:ext cx="16142675" cy="83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Que perguntas o banco consegue responder?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9686" y="2031559"/>
            <a:ext cx="1578569" cy="75495"/>
            <a:chOff x="0" y="0"/>
            <a:chExt cx="2104758" cy="1006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4771" cy="100711"/>
            </a:xfrm>
            <a:custGeom>
              <a:avLst/>
              <a:gdLst/>
              <a:ahLst/>
              <a:cxnLst/>
              <a:rect l="l" t="t" r="r" b="b"/>
              <a:pathLst>
                <a:path w="2104771" h="10071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60853" y="9736426"/>
            <a:ext cx="7494832" cy="2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AEBED3"/>
                </a:solidFill>
                <a:latin typeface="Aptos Bold"/>
                <a:ea typeface="Aptos Bold"/>
                <a:cs typeface="Aptos Bold"/>
                <a:sym typeface="Aptos Bold"/>
              </a:rPr>
              <a:t>SENAI • DESENVOLVIMENTO DE SISTEMAS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0508" y="2669086"/>
            <a:ext cx="7770847" cy="2417426"/>
            <a:chOff x="0" y="0"/>
            <a:chExt cx="10361130" cy="3223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61168" cy="3223260"/>
            </a:xfrm>
            <a:custGeom>
              <a:avLst/>
              <a:gdLst/>
              <a:ahLst/>
              <a:cxnLst/>
              <a:rect l="l" t="t" r="r" b="b"/>
              <a:pathLst>
                <a:path w="10361168" h="3223260">
                  <a:moveTo>
                    <a:pt x="0" y="537210"/>
                  </a:moveTo>
                  <a:cubicBezTo>
                    <a:pt x="0" y="240538"/>
                    <a:pt x="240538" y="0"/>
                    <a:pt x="537210" y="0"/>
                  </a:cubicBezTo>
                  <a:lnTo>
                    <a:pt x="9823958" y="0"/>
                  </a:lnTo>
                  <a:cubicBezTo>
                    <a:pt x="10120630" y="0"/>
                    <a:pt x="10361168" y="240538"/>
                    <a:pt x="10361168" y="537210"/>
                  </a:cubicBezTo>
                  <a:lnTo>
                    <a:pt x="10361168" y="2686050"/>
                  </a:lnTo>
                  <a:cubicBezTo>
                    <a:pt x="10361168" y="2982722"/>
                    <a:pt x="10120630" y="3223260"/>
                    <a:pt x="9823958" y="3223260"/>
                  </a:cubicBezTo>
                  <a:lnTo>
                    <a:pt x="537210" y="3223260"/>
                  </a:lnTo>
                  <a:cubicBezTo>
                    <a:pt x="240538" y="3223260"/>
                    <a:pt x="0" y="2982722"/>
                    <a:pt x="0" y="2686050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427559" y="2978677"/>
            <a:ext cx="2004146" cy="28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CLIENTES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7559" y="3459109"/>
            <a:ext cx="6945763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Quem realizou mais compras?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7559" y="4104265"/>
            <a:ext cx="6945763" cy="60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Contar pedidos por cliente e ordenar do maior para o menor.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95184" y="2669086"/>
            <a:ext cx="7770847" cy="2417426"/>
            <a:chOff x="0" y="0"/>
            <a:chExt cx="10361130" cy="32232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361168" cy="3223260"/>
            </a:xfrm>
            <a:custGeom>
              <a:avLst/>
              <a:gdLst/>
              <a:ahLst/>
              <a:cxnLst/>
              <a:rect l="l" t="t" r="r" b="b"/>
              <a:pathLst>
                <a:path w="10361168" h="3223260">
                  <a:moveTo>
                    <a:pt x="0" y="537210"/>
                  </a:moveTo>
                  <a:cubicBezTo>
                    <a:pt x="0" y="240538"/>
                    <a:pt x="240538" y="0"/>
                    <a:pt x="537210" y="0"/>
                  </a:cubicBezTo>
                  <a:lnTo>
                    <a:pt x="9823958" y="0"/>
                  </a:lnTo>
                  <a:cubicBezTo>
                    <a:pt x="10120630" y="0"/>
                    <a:pt x="10361168" y="240538"/>
                    <a:pt x="10361168" y="537210"/>
                  </a:cubicBezTo>
                  <a:lnTo>
                    <a:pt x="10361168" y="2686050"/>
                  </a:lnTo>
                  <a:cubicBezTo>
                    <a:pt x="10361168" y="2982722"/>
                    <a:pt x="10120630" y="3223260"/>
                    <a:pt x="9823958" y="3223260"/>
                  </a:cubicBezTo>
                  <a:lnTo>
                    <a:pt x="537210" y="3223260"/>
                  </a:lnTo>
                  <a:cubicBezTo>
                    <a:pt x="240538" y="3223260"/>
                    <a:pt x="0" y="2982722"/>
                    <a:pt x="0" y="2686050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732226" y="2978677"/>
            <a:ext cx="2004146" cy="28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PRODUTOS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32226" y="3459109"/>
            <a:ext cx="6945763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Qual produto vendeu mais?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32226" y="4104265"/>
            <a:ext cx="6945763" cy="60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Somar as quantidades vendidas em um período.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90508" y="5620331"/>
            <a:ext cx="7770847" cy="2417426"/>
            <a:chOff x="0" y="0"/>
            <a:chExt cx="10361130" cy="32232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361168" cy="3223260"/>
            </a:xfrm>
            <a:custGeom>
              <a:avLst/>
              <a:gdLst/>
              <a:ahLst/>
              <a:cxnLst/>
              <a:rect l="l" t="t" r="r" b="b"/>
              <a:pathLst>
                <a:path w="10361168" h="3223260">
                  <a:moveTo>
                    <a:pt x="0" y="537210"/>
                  </a:moveTo>
                  <a:cubicBezTo>
                    <a:pt x="0" y="240538"/>
                    <a:pt x="240538" y="0"/>
                    <a:pt x="537210" y="0"/>
                  </a:cubicBezTo>
                  <a:lnTo>
                    <a:pt x="9823958" y="0"/>
                  </a:lnTo>
                  <a:cubicBezTo>
                    <a:pt x="10120630" y="0"/>
                    <a:pt x="10361168" y="240538"/>
                    <a:pt x="10361168" y="537210"/>
                  </a:cubicBezTo>
                  <a:lnTo>
                    <a:pt x="10361168" y="2686050"/>
                  </a:lnTo>
                  <a:cubicBezTo>
                    <a:pt x="10361168" y="2982722"/>
                    <a:pt x="10120630" y="3223260"/>
                    <a:pt x="9823958" y="3223260"/>
                  </a:cubicBezTo>
                  <a:lnTo>
                    <a:pt x="537210" y="3223260"/>
                  </a:lnTo>
                  <a:cubicBezTo>
                    <a:pt x="240538" y="3223260"/>
                    <a:pt x="0" y="2982722"/>
                    <a:pt x="0" y="2686050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427559" y="5929922"/>
            <a:ext cx="2004146" cy="28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FATURAMENTO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7559" y="6410354"/>
            <a:ext cx="6945763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Quanto cada cliente comprou?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7559" y="7055510"/>
            <a:ext cx="6945763" cy="60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Agrupar pedidos por cliente e somar os valores.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95184" y="5620331"/>
            <a:ext cx="7770847" cy="2417426"/>
            <a:chOff x="0" y="0"/>
            <a:chExt cx="10361130" cy="322323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361168" cy="3223260"/>
            </a:xfrm>
            <a:custGeom>
              <a:avLst/>
              <a:gdLst/>
              <a:ahLst/>
              <a:cxnLst/>
              <a:rect l="l" t="t" r="r" b="b"/>
              <a:pathLst>
                <a:path w="10361168" h="3223260">
                  <a:moveTo>
                    <a:pt x="0" y="537210"/>
                  </a:moveTo>
                  <a:cubicBezTo>
                    <a:pt x="0" y="240538"/>
                    <a:pt x="240538" y="0"/>
                    <a:pt x="537210" y="0"/>
                  </a:cubicBezTo>
                  <a:lnTo>
                    <a:pt x="9823958" y="0"/>
                  </a:lnTo>
                  <a:cubicBezTo>
                    <a:pt x="10120630" y="0"/>
                    <a:pt x="10361168" y="240538"/>
                    <a:pt x="10361168" y="537210"/>
                  </a:cubicBezTo>
                  <a:lnTo>
                    <a:pt x="10361168" y="2686050"/>
                  </a:lnTo>
                  <a:cubicBezTo>
                    <a:pt x="10361168" y="2982722"/>
                    <a:pt x="10120630" y="3223260"/>
                    <a:pt x="9823958" y="3223260"/>
                  </a:cubicBezTo>
                  <a:lnTo>
                    <a:pt x="537210" y="3223260"/>
                  </a:lnTo>
                  <a:cubicBezTo>
                    <a:pt x="240538" y="3223260"/>
                    <a:pt x="0" y="2982722"/>
                    <a:pt x="0" y="2686050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9732226" y="5929922"/>
            <a:ext cx="2004146" cy="28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PEDIDOS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32226" y="6410354"/>
            <a:ext cx="6945763" cy="42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Quais ultrapassam R$ 500?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32226" y="7055510"/>
            <a:ext cx="6945763" cy="60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Filtrar pedidos com valor acima de um limite.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403431" y="521618"/>
            <a:ext cx="1098137" cy="61770"/>
            <a:chOff x="0" y="0"/>
            <a:chExt cx="1464183" cy="823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4183" cy="82423"/>
            </a:xfrm>
            <a:custGeom>
              <a:avLst/>
              <a:gdLst/>
              <a:ahLst/>
              <a:cxnLst/>
              <a:rect l="l" t="t" r="r" b="b"/>
              <a:pathLst>
                <a:path w="1464183" h="82423">
                  <a:moveTo>
                    <a:pt x="0" y="0"/>
                  </a:moveTo>
                  <a:lnTo>
                    <a:pt x="1464183" y="0"/>
                  </a:lnTo>
                  <a:lnTo>
                    <a:pt x="1464183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9667" y="1098118"/>
            <a:ext cx="16142675" cy="83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Conclusão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9686" y="2031559"/>
            <a:ext cx="1578569" cy="75495"/>
            <a:chOff x="0" y="0"/>
            <a:chExt cx="2104758" cy="1006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4771" cy="100711"/>
            </a:xfrm>
            <a:custGeom>
              <a:avLst/>
              <a:gdLst/>
              <a:ahLst/>
              <a:cxnLst/>
              <a:rect l="l" t="t" r="r" b="b"/>
              <a:pathLst>
                <a:path w="2104771" h="100711">
                  <a:moveTo>
                    <a:pt x="0" y="0"/>
                  </a:moveTo>
                  <a:lnTo>
                    <a:pt x="2104771" y="0"/>
                  </a:lnTo>
                  <a:lnTo>
                    <a:pt x="2104771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60853" y="9736426"/>
            <a:ext cx="7494832" cy="2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AEBED3"/>
                </a:solidFill>
                <a:latin typeface="Aptos Bold"/>
                <a:ea typeface="Aptos Bold"/>
                <a:cs typeface="Aptos Bold"/>
                <a:sym typeface="Aptos Bold"/>
              </a:rPr>
              <a:t>SENAI • DESENVOLVIMENTO DE SISTEMAS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2834" y="2704148"/>
            <a:ext cx="15730871" cy="97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O projeto mostra como um banco relacional pode apoiar o gerenciamento de vendas.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59145" y="4384929"/>
            <a:ext cx="5162769" cy="2142896"/>
            <a:chOff x="0" y="0"/>
            <a:chExt cx="6883692" cy="28571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83781" cy="2857246"/>
            </a:xfrm>
            <a:custGeom>
              <a:avLst/>
              <a:gdLst/>
              <a:ahLst/>
              <a:cxnLst/>
              <a:rect l="l" t="t" r="r" b="b"/>
              <a:pathLst>
                <a:path w="6883781" h="2857246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lnTo>
                    <a:pt x="6407531" y="0"/>
                  </a:lnTo>
                  <a:cubicBezTo>
                    <a:pt x="6670548" y="0"/>
                    <a:pt x="6883781" y="213233"/>
                    <a:pt x="6883781" y="476250"/>
                  </a:cubicBezTo>
                  <a:lnTo>
                    <a:pt x="6883781" y="2380996"/>
                  </a:lnTo>
                  <a:cubicBezTo>
                    <a:pt x="6883781" y="2644013"/>
                    <a:pt x="6670548" y="2857246"/>
                    <a:pt x="6407531" y="2857246"/>
                  </a:cubicBezTo>
                  <a:lnTo>
                    <a:pt x="476250" y="2857246"/>
                  </a:lnTo>
                  <a:cubicBezTo>
                    <a:pt x="213233" y="2857246"/>
                    <a:pt x="0" y="2644013"/>
                    <a:pt x="0" y="2380996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68736" y="4831785"/>
            <a:ext cx="4543587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ORGANIZAÇÃO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736" y="5518118"/>
            <a:ext cx="4543587" cy="5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Dados separados por finalidade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855733" y="4384929"/>
            <a:ext cx="5162769" cy="2142896"/>
            <a:chOff x="0" y="0"/>
            <a:chExt cx="6883692" cy="28571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83781" cy="2857246"/>
            </a:xfrm>
            <a:custGeom>
              <a:avLst/>
              <a:gdLst/>
              <a:ahLst/>
              <a:cxnLst/>
              <a:rect l="l" t="t" r="r" b="b"/>
              <a:pathLst>
                <a:path w="6883781" h="2857246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lnTo>
                    <a:pt x="6407531" y="0"/>
                  </a:lnTo>
                  <a:cubicBezTo>
                    <a:pt x="6670548" y="0"/>
                    <a:pt x="6883781" y="213233"/>
                    <a:pt x="6883781" y="476250"/>
                  </a:cubicBezTo>
                  <a:lnTo>
                    <a:pt x="6883781" y="2380996"/>
                  </a:lnTo>
                  <a:cubicBezTo>
                    <a:pt x="6883781" y="2644013"/>
                    <a:pt x="6670548" y="2857246"/>
                    <a:pt x="6407531" y="2857246"/>
                  </a:cubicBezTo>
                  <a:lnTo>
                    <a:pt x="476250" y="2857246"/>
                  </a:lnTo>
                  <a:cubicBezTo>
                    <a:pt x="213233" y="2857246"/>
                    <a:pt x="0" y="2644013"/>
                    <a:pt x="0" y="2380996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7165324" y="4831785"/>
            <a:ext cx="4543587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AUTOMAÇÃO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65324" y="5518118"/>
            <a:ext cx="4543587" cy="5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Procedures e Triggers para tarefas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552331" y="4384929"/>
            <a:ext cx="5162769" cy="2142896"/>
            <a:chOff x="0" y="0"/>
            <a:chExt cx="6883692" cy="285719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883781" cy="2857246"/>
            </a:xfrm>
            <a:custGeom>
              <a:avLst/>
              <a:gdLst/>
              <a:ahLst/>
              <a:cxnLst/>
              <a:rect l="l" t="t" r="r" b="b"/>
              <a:pathLst>
                <a:path w="6883781" h="2857246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lnTo>
                    <a:pt x="6407531" y="0"/>
                  </a:lnTo>
                  <a:cubicBezTo>
                    <a:pt x="6670548" y="0"/>
                    <a:pt x="6883781" y="213233"/>
                    <a:pt x="6883781" y="476250"/>
                  </a:cubicBezTo>
                  <a:lnTo>
                    <a:pt x="6883781" y="2380996"/>
                  </a:lnTo>
                  <a:cubicBezTo>
                    <a:pt x="6883781" y="2644013"/>
                    <a:pt x="6670548" y="2857246"/>
                    <a:pt x="6407531" y="2857246"/>
                  </a:cubicBezTo>
                  <a:lnTo>
                    <a:pt x="476250" y="2857246"/>
                  </a:lnTo>
                  <a:cubicBezTo>
                    <a:pt x="213233" y="2857246"/>
                    <a:pt x="0" y="2644013"/>
                    <a:pt x="0" y="2380996"/>
                  </a:cubicBezTo>
                  <a:close/>
                </a:path>
              </a:pathLst>
            </a:custGeom>
            <a:solidFill>
              <a:srgbClr val="121D31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2861922" y="4831785"/>
            <a:ext cx="4543587" cy="384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1">
                <a:solidFill>
                  <a:srgbClr val="6900FF"/>
                </a:solidFill>
                <a:latin typeface="Aptos Bold"/>
                <a:ea typeface="Aptos Bold"/>
                <a:cs typeface="Aptos Bold"/>
                <a:sym typeface="Aptos Bold"/>
              </a:rPr>
              <a:t>ANÁLISE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61922" y="5518118"/>
            <a:ext cx="4543587" cy="562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Views e consultas para apoiar decisões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88618" y="9155706"/>
            <a:ext cx="9142038" cy="28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AEBED3"/>
                </a:solidFill>
                <a:latin typeface="Aptos"/>
                <a:ea typeface="Aptos"/>
                <a:cs typeface="Aptos"/>
                <a:sym typeface="Aptos"/>
              </a:rPr>
              <a:t>Gerenciamento de Vendas | Banco de Dados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30934" y="2126193"/>
            <a:ext cx="12026132" cy="6190952"/>
            <a:chOff x="0" y="0"/>
            <a:chExt cx="16034842" cy="82546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34765" cy="8253785"/>
            </a:xfrm>
            <a:custGeom>
              <a:avLst/>
              <a:gdLst/>
              <a:ahLst/>
              <a:cxnLst/>
              <a:rect l="l" t="t" r="r" b="b"/>
              <a:pathLst>
                <a:path w="16034765" h="8253785">
                  <a:moveTo>
                    <a:pt x="0" y="1375526"/>
                  </a:moveTo>
                  <a:cubicBezTo>
                    <a:pt x="0" y="616095"/>
                    <a:pt x="124460" y="0"/>
                    <a:pt x="277876" y="0"/>
                  </a:cubicBezTo>
                  <a:lnTo>
                    <a:pt x="15756889" y="0"/>
                  </a:lnTo>
                  <a:cubicBezTo>
                    <a:pt x="15910432" y="0"/>
                    <a:pt x="16034765" y="616095"/>
                    <a:pt x="16034765" y="1375526"/>
                  </a:cubicBezTo>
                  <a:lnTo>
                    <a:pt x="16034765" y="6878258"/>
                  </a:lnTo>
                  <a:cubicBezTo>
                    <a:pt x="16034765" y="7638319"/>
                    <a:pt x="15910305" y="8253785"/>
                    <a:pt x="15756889" y="8253785"/>
                  </a:cubicBezTo>
                  <a:lnTo>
                    <a:pt x="277876" y="8253785"/>
                  </a:lnTo>
                  <a:cubicBezTo>
                    <a:pt x="124460" y="8254414"/>
                    <a:pt x="0" y="7638319"/>
                    <a:pt x="0" y="6878887"/>
                  </a:cubicBezTo>
                  <a:close/>
                </a:path>
              </a:pathLst>
            </a:custGeom>
            <a:solidFill>
              <a:srgbClr val="0F273C"/>
            </a:solidFill>
            <a:ln w="15252" cap="sq">
              <a:solidFill>
                <a:srgbClr val="263E5B"/>
              </a:solidFill>
              <a:prstDash val="solid"/>
              <a:miter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6436814" y="2971800"/>
            <a:ext cx="5410438" cy="434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2"/>
              </a:lnSpc>
            </a:pPr>
            <a:r>
              <a:rPr lang="en-US" sz="9501" b="1">
                <a:solidFill>
                  <a:srgbClr val="F2F7FF"/>
                </a:solidFill>
                <a:latin typeface="Aptos Bold"/>
                <a:ea typeface="Aptos Bold"/>
                <a:cs typeface="Aptos Bold"/>
                <a:sym typeface="Aptos Bold"/>
              </a:rPr>
              <a:t>Obrigado pela atenção! 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8119341" y="0"/>
            <a:ext cx="164725" cy="10295039"/>
            <a:chOff x="0" y="0"/>
            <a:chExt cx="219634" cy="137267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6900FF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465</Words>
  <Application>Microsoft Office PowerPoint</Application>
  <PresentationFormat>Personalizar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 Bold</vt:lpstr>
      <vt:lpstr>Aptos</vt:lpstr>
      <vt:lpstr>Consolas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Apresentacao_Gerenciamento_de_Vendas.pptx</dc:title>
  <dc:creator>CMEISV - ALUNOS</dc:creator>
  <cp:lastModifiedBy>CMEISV - ALUNOS</cp:lastModifiedBy>
  <cp:revision>2</cp:revision>
  <dcterms:created xsi:type="dcterms:W3CDTF">2006-08-16T00:00:00Z</dcterms:created>
  <dcterms:modified xsi:type="dcterms:W3CDTF">2026-10-15T18:49:42Z</dcterms:modified>
  <dc:identifier>DAHYGZ07cyw</dc:identifier>
</cp:coreProperties>
</file>